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Outfit Light"/>
      <p:regular r:id="rId21"/>
      <p:bold r:id="rId22"/>
    </p:embeddedFont>
    <p:embeddedFont>
      <p:font typeface="Urbanist SemiBold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  <p:embeddedFont>
      <p:font typeface="Outfit SemiBo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325065-D11D-4222-8B62-957DEE94D035}">
  <a:tblStyle styleId="{88325065-D11D-4222-8B62-957DEE94D0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utfitLight-bold.fntdata"/><Relationship Id="rId21" Type="http://schemas.openxmlformats.org/officeDocument/2006/relationships/font" Target="fonts/OutfitLight-regular.fntdata"/><Relationship Id="rId24" Type="http://schemas.openxmlformats.org/officeDocument/2006/relationships/font" Target="fonts/UrbanistSemiBold-bold.fntdata"/><Relationship Id="rId23" Type="http://schemas.openxmlformats.org/officeDocument/2006/relationships/font" Target="fonts/Urbanis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boldItalic.fntdata"/><Relationship Id="rId25" Type="http://schemas.openxmlformats.org/officeDocument/2006/relationships/font" Target="fonts/UrbanistSemiBold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utfitSemiBold-regular.fntdata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Outfit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cdd00f72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cdd00f72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30.png"/><Relationship Id="rId13" Type="http://schemas.openxmlformats.org/officeDocument/2006/relationships/image" Target="../media/image36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5" Type="http://schemas.openxmlformats.org/officeDocument/2006/relationships/image" Target="../media/image46.png"/><Relationship Id="rId14" Type="http://schemas.openxmlformats.org/officeDocument/2006/relationships/image" Target="../media/image44.png"/><Relationship Id="rId17" Type="http://schemas.openxmlformats.org/officeDocument/2006/relationships/image" Target="../media/image45.png"/><Relationship Id="rId16" Type="http://schemas.openxmlformats.org/officeDocument/2006/relationships/image" Target="../media/image37.png"/><Relationship Id="rId5" Type="http://schemas.openxmlformats.org/officeDocument/2006/relationships/image" Target="../media/image23.png"/><Relationship Id="rId6" Type="http://schemas.openxmlformats.org/officeDocument/2006/relationships/image" Target="../media/image41.png"/><Relationship Id="rId18" Type="http://schemas.openxmlformats.org/officeDocument/2006/relationships/image" Target="../media/image38.png"/><Relationship Id="rId7" Type="http://schemas.openxmlformats.org/officeDocument/2006/relationships/image" Target="../media/image31.png"/><Relationship Id="rId8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39.png"/><Relationship Id="rId7" Type="http://schemas.openxmlformats.org/officeDocument/2006/relationships/image" Target="../media/image43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057275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Light"/>
                <a:ea typeface="Outfit Light"/>
                <a:cs typeface="Outfit Light"/>
                <a:sym typeface="Outfit Light"/>
              </a:rPr>
              <a:t>CS 623 Cloud Computing Final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009775"/>
            <a:ext cx="11601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67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Smart EV Charging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00E67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Reservation Platform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2427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676"/>
                </a:solidFill>
                <a:latin typeface="Urbanist"/>
                <a:ea typeface="Urbanist"/>
                <a:cs typeface="Urbanist"/>
                <a:sym typeface="Urbanist"/>
              </a:rPr>
              <a:t>AWS Cloud Integration Architecture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4291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Student: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Inderpal Singh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7720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Professor: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Babak Esmaeili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1149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Institution: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California State University, East Bay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54578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Date: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June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2774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37270"/>
            <a:ext cx="52197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980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870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44206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MARKET CONTEXT &amp; NEED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2468909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Meeting the Demand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304040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As the global transition to electric mobility accelerates, the reliability of charging infrastructure becomes critical.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62025" y="3901231"/>
            <a:ext cx="4848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Rising need for seamless reservation systems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0600" y="4358431"/>
            <a:ext cx="4819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Scalability requirements for peak-hour demands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47750" y="4815631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Shift from on-premise to serverless cloud models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6933"/>
            <a:ext cx="523875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PROJECT OBJECTIVES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3227933"/>
            <a:ext cx="47005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Core Vision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3704183"/>
            <a:ext cx="4476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Develop a robust, cloud-native reservation platform demonstrating high-fidelity integration between frontend interfaces and AWS backend services.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715125" y="2365920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Frontend-Cloud Synergy: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Enable direct communication between React and AWS.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715125" y="311839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Resource Management: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Dynamic selection of available charging stations.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15125" y="3870870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Persistent Storage: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Secure and scalable data persistence using DynamoDB.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15125" y="462334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Architecture Validation: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End-to-end testing of the serverless request-response cycle.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381750" y="2365920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E676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381750" y="311839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E676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381750" y="3870870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E676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381750" y="4623345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E676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5458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5458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5458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894558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894558"/>
            <a:ext cx="3143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894558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PLATFORM CAPABILITIES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3599408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Reservation Entry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52500" y="4075658"/>
            <a:ext cx="27305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Intuitive React interface for users to input reservation details including timing and duration.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730799" y="3599408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Station Selection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730799" y="4075658"/>
            <a:ext cx="273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Users select an available charging station from the reservation interface. 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509099" y="3599408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Cloud Submission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509099" y="4075658"/>
            <a:ext cx="27305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Instant synchronization of local state with the AWS cloud persistence layer via secure APIs.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5390"/>
            <a:ext cx="11049000" cy="483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TECHNOLOGY STACK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/>
          <p:nvPr/>
        </p:nvSpPr>
        <p:spPr>
          <a:xfrm>
            <a:off x="571500" y="387087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1451520" y="3313658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676"/>
          </a:solidFill>
          <a:ln cap="flat" cmpd="sng" w="38100">
            <a:solidFill>
              <a:srgbClr val="0B1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716535" y="3313658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676"/>
          </a:solidFill>
          <a:ln cap="flat" cmpd="sng" w="38100">
            <a:solidFill>
              <a:srgbClr val="0B1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981551" y="3313658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676"/>
          </a:solidFill>
          <a:ln cap="flat" cmpd="sng" w="38100">
            <a:solidFill>
              <a:srgbClr val="0B1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8246566" y="3313658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676"/>
          </a:solidFill>
          <a:ln cap="flat" cmpd="sng" w="38100">
            <a:solidFill>
              <a:srgbClr val="0B1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10511581" y="3313658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E676"/>
          </a:solidFill>
          <a:ln cap="flat" cmpd="sng" w="38100">
            <a:solidFill>
              <a:srgbClr val="0B19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SYSTEM WORKFLOW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21780" y="3732758"/>
            <a:ext cx="208822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E67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User Interface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4066133"/>
            <a:ext cx="19887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 interacts with React Frontend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2786795" y="3732758"/>
            <a:ext cx="208822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E67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API Layer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2836515" y="4066133"/>
            <a:ext cx="19887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Request sent to AWS API Gateway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051810" y="3732758"/>
            <a:ext cx="208822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E67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Processing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101530" y="4066133"/>
            <a:ext cx="19887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Lambda executes logic &amp; validation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316825" y="3732758"/>
            <a:ext cx="208822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E67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Persistence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366545" y="4066133"/>
            <a:ext cx="19887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stored in DynamoDB table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581841" y="3732758"/>
            <a:ext cx="208822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E67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Response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631560" y="4066133"/>
            <a:ext cx="19887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Success confirmation sent back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8891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61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0331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62000" y="762000"/>
            <a:ext cx="50006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AWS API GATEWAY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71500" y="7620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1645890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0E67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Digital Entry Point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206499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Acts as the secure "front door" for applications to access backend data and business logic.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047750" y="2960340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Public RESTful API Endpoint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90600" y="3417540"/>
            <a:ext cx="453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Frontend-to-Backend Orchestration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990600" y="3874740"/>
            <a:ext cx="4533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Request Routing and Transformation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3066008"/>
            <a:ext cx="441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E676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4399508"/>
            <a:ext cx="4419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SERVERS TO MANAGE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SERVERLESS COMPUTING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753100" y="2613570"/>
            <a:ext cx="61607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AWS Lambda Integration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753100" y="2842170"/>
            <a:ext cx="5867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Event-driven compute service that runs code only when triggered by API requests.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53100" y="3642270"/>
            <a:ext cx="586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Automated Logic: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Generates unique Reservation IDs per request.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53100" y="4061370"/>
            <a:ext cx="586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Stateless Execution: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High-performance data processing for reservations.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53100" y="4709070"/>
            <a:ext cx="586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Seamless Storage: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Direct integration with DynamoDB SDK.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2" name="Google Shape;212;p21"/>
          <p:cNvGraphicFramePr/>
          <p:nvPr/>
        </p:nvGraphicFramePr>
        <p:xfrm>
          <a:off x="571500" y="2513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{88325065-D11D-4222-8B62-957DEE94D035}</a:tableStyleId>
              </a:tblPr>
              <a:tblGrid>
                <a:gridCol w="1654225"/>
                <a:gridCol w="3584525"/>
              </a:tblGrid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94A3B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Implementation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NoSQL Key-Value Store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Single-digit Millisecond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On-demand Capacity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Persistence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03995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571500" y="3142208"/>
            <a:ext cx="1654224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2225724" y="3142208"/>
            <a:ext cx="3584525" cy="190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71500" y="3775620"/>
            <a:ext cx="165422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225724" y="3775620"/>
            <a:ext cx="3584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71500" y="4394745"/>
            <a:ext cx="165422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2225724" y="4394745"/>
            <a:ext cx="3584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71500" y="5013870"/>
            <a:ext cx="165422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225724" y="5013870"/>
            <a:ext cx="3584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71500" y="5632995"/>
            <a:ext cx="165422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225724" y="5632995"/>
            <a:ext cx="3584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SCALABLE DATA STORAGE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71500" y="2094458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DynamoDB Service Role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DEMONSTRATION WORKFLOW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571500" y="2061120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Open App: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Launch the React application in the browser.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71500" y="2480220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Enter reservation time and station details.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2899320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Submit: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Click reserve to trigger the cloud pipeline.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3318420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API Hook: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Gateway receives and routes the POST request.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3966120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5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Compute: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Lambda processes data and adds a timestamp/ID.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4613820"/>
            <a:ext cx="523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6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Store: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Record is permanently added to the DB.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5032920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7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Verify: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Cross-check record in AWS Management Console.</a:t>
            </a:r>
            <a:endParaRPr/>
          </a:p>
        </p:txBody>
      </p:sp>
      <p:pic>
        <p:nvPicPr>
          <p:cNvPr id="241" name="Google Shape;2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9850" y="1840751"/>
            <a:ext cx="6362548" cy="34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6895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46895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46895"/>
            <a:ext cx="34925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SYSTEM VALIDATION PROOFS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484186" y="4785270"/>
            <a:ext cx="36671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Frontend Logic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571500" y="5013870"/>
            <a:ext cx="349254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React Form Validation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4349774" y="4850170"/>
            <a:ext cx="349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Cloud Pipeline</a:t>
            </a:r>
            <a:endParaRPr b="1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AWS API Gateway &amp; Lambda Integration</a:t>
            </a:r>
            <a:endParaRPr b="1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8040785" y="4785270"/>
            <a:ext cx="36671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Live Record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8128099" y="5013870"/>
            <a:ext cx="3492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DynamoDB Reservation Record</a:t>
            </a:r>
            <a:endParaRPr b="1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57" name="Google Shape;25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0" y="2496791"/>
            <a:ext cx="3492550" cy="218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/>
          <p:cNvPicPr preferRelativeResize="0"/>
          <p:nvPr/>
        </p:nvPicPr>
        <p:blipFill rotWithShape="1">
          <a:blip r:embed="rId8">
            <a:alphaModFix/>
          </a:blip>
          <a:srcRect b="0" l="2534" r="0" t="0"/>
          <a:stretch/>
        </p:blipFill>
        <p:spPr>
          <a:xfrm>
            <a:off x="4262475" y="2451800"/>
            <a:ext cx="3667175" cy="227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28075" y="2578375"/>
            <a:ext cx="3667201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1936402"/>
            <a:ext cx="5119687" cy="1205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936402"/>
            <a:ext cx="5119687" cy="1205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380333"/>
            <a:ext cx="5119687" cy="1205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3380333"/>
            <a:ext cx="5119687" cy="1205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4824263"/>
            <a:ext cx="104775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90625" y="2258317"/>
            <a:ext cx="5524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48437" y="2258317"/>
            <a:ext cx="5524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90625" y="3702248"/>
            <a:ext cx="5524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48437" y="3702248"/>
            <a:ext cx="5524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90625" y="5033813"/>
            <a:ext cx="5524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76350" y="238214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53212" y="238214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14450" y="382607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691312" y="3826073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14450" y="515763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FUTURE ENHANCEMENTS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571500" y="571500"/>
            <a:ext cx="57300" cy="502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1971675" y="2145952"/>
            <a:ext cx="39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AWS Cognito Auth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1971675" y="2469802"/>
            <a:ext cx="37194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Integrate seamless and secure sign-up, sign-in, and access control with multi-factor authentication.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7329487" y="2145952"/>
            <a:ext cx="39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Stripe Payment Gateway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7329487" y="2469802"/>
            <a:ext cx="37194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Process quick and safe cashless transaction handling for booking charging sessions directly.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1971675" y="3589883"/>
            <a:ext cx="39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Dynamic Availability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971675" y="3913733"/>
            <a:ext cx="37194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Optimize resource management with live smart scheduling updates and sensor integrations.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7329487" y="3589883"/>
            <a:ext cx="39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Reservation Cancellation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7329487" y="3913733"/>
            <a:ext cx="37194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Allow automated booking refunds, slot releases, and real-time waiting list updates.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1971675" y="5034706"/>
            <a:ext cx="939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Real-Time Analytics Dashboard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1971675" y="5358556"/>
            <a:ext cx="8943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Monitor charger utilization rates, active user session patterns, and financial performance telemetry via intuitive data pipelines.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E676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/>
          <p:nvPr/>
        </p:nvSpPr>
        <p:spPr>
          <a:xfrm>
            <a:off x="5619750" y="3205162"/>
            <a:ext cx="952500" cy="38100"/>
          </a:xfrm>
          <a:prstGeom prst="rect">
            <a:avLst/>
          </a:prstGeom>
          <a:solidFill>
            <a:srgbClr val="0B19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571500" y="4786312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B192E"/>
                </a:solidFill>
                <a:latin typeface="Urbanist"/>
                <a:ea typeface="Urbanist"/>
                <a:cs typeface="Urbanist"/>
                <a:sym typeface="Urbanist"/>
              </a:rPr>
              <a:t>Inderpal Singh | California State University, East Bay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295275" y="186213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B192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Thank You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571500" y="3433762"/>
            <a:ext cx="11049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B192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Questions &amp; Discussion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571500" y="3986212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B192E"/>
                </a:solidFill>
                <a:latin typeface="Urbanist"/>
                <a:ea typeface="Urbanist"/>
                <a:cs typeface="Urbanist"/>
                <a:sym typeface="Urbanist"/>
              </a:rPr>
              <a:t>Cloud Computing Final Project | CS 623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E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159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6122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5179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2332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138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6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IMAGE SOURCES</a:t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571500" y="1889670"/>
            <a:ext cx="11049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571500" y="2699295"/>
            <a:ext cx="11049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571500" y="350892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571500" y="428044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571500" y="26897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571500" y="26897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571500" y="34993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571500" y="34993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571500" y="42709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571500" y="42709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571500" y="50424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571500" y="50424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1666875" y="2032545"/>
            <a:ext cx="9953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https://static.vecteezy.com/system/resources/thumbnails/060/030/869/small/a-modern-mobility-hub-illuminated-by-vibrant-neon-lights-hosts-multiple-automated-charging-stations-for-electric-vehicles-at-night-highlighting-innovations-in-transportation-and-electrification-photo.jpg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1666875" y="2365920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1666875" y="2842170"/>
            <a:ext cx="9953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https://media.istockphoto.com/id/1665910516/photo/cloud-and-edge-computing-technology-data-transfer-concept-a-large-cloud-icon-is-in-the-center.jpg?s=612x612&amp;w=0&amp;k=20&amp;c=v37ipYB5w6g47pk9bv1b0hcRJBuiyJ7X_WE2q8OEW8o=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1666875" y="3175545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1666875" y="3704183"/>
            <a:ext cx="9953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https://symbols.getvecta.com/stencil_261/6_aws-dynamodb.58cd32ddb8.svg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1666875" y="3894683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vecta.io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1666875" y="4475708"/>
            <a:ext cx="9953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https://www.designstudiouiux.com/static/dd66435720c8159606957d37d50a1c17/ac8a3/Web-App-Design-GUide_Featured.jpg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1666875" y="4666208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www.designstudiouiux.com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1666875" y="5194845"/>
            <a:ext cx="9953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https://squaredup.com/_next/image/?url=https%3A%2F%2Fcdn.sanity.io%2Fimages%2Fz7wg6mcy%2Fproduction-2025%2F25f2b05c4ddc5e93f55af8086f2adfa5cf13a016-975x549.png&amp;w=3840&amp;q=75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1666875" y="5528220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squaredup.com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